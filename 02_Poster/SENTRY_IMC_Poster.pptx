
<file path=[Content_Types].xml><?xml version="1.0" encoding="utf-8"?>
<Types xmlns="http://schemas.openxmlformats.org/package/2006/content-types">
  <Default ContentType="image/jpg" Extension="jpg"/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7556500" cx="10693400"/>
  <p:notesSz cx="10693400" cy="7556500"/>
  <p:defaultTextStyle>
    <a:defPPr lvl="0">
      <a:defRPr lang="de-DE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2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2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2.xml"/><Relationship Id="rId3" Type="http://schemas.openxmlformats.org/officeDocument/2006/relationships/presProps" Target="presProps2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883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90500" y="1200139"/>
            <a:ext cx="10312389" cy="515621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259"/>
            <a:ext cx="9624059" cy="1209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5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7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5071F9-7A58-97A1-75A5-F215BC5EC324}"/>
              </a:ext>
            </a:extLst>
          </p:cNvPr>
          <p:cNvSpPr/>
          <p:nvPr/>
        </p:nvSpPr>
        <p:spPr>
          <a:xfrm>
            <a:off x="467758" y="2741416"/>
            <a:ext cx="10058382" cy="3364132"/>
          </a:xfrm>
          <a:prstGeom prst="rect">
            <a:avLst/>
          </a:prstGeom>
          <a:solidFill>
            <a:srgbClr val="EFE7DC"/>
          </a:solidFill>
          <a:ln>
            <a:solidFill>
              <a:srgbClr val="EFE7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018A98-2EC4-9886-F76E-151F3E7DF018}"/>
              </a:ext>
            </a:extLst>
          </p:cNvPr>
          <p:cNvSpPr txBox="1"/>
          <p:nvPr/>
        </p:nvSpPr>
        <p:spPr>
          <a:xfrm>
            <a:off x="371994" y="3123771"/>
            <a:ext cx="3492724" cy="946413"/>
          </a:xfrm>
          <a:prstGeom prst="rect">
            <a:avLst/>
          </a:prstGeom>
          <a:noFill/>
          <a:ln>
            <a:solidFill>
              <a:srgbClr val="EFE7DC"/>
            </a:solidFill>
          </a:ln>
        </p:spPr>
        <p:txBody>
          <a:bodyPr wrap="square" numCol="1" rtlCol="0">
            <a:spAutoFit/>
          </a:bodyPr>
          <a:lstStyle/>
          <a:p>
            <a:r>
              <a:rPr lang="en-US" sz="1050" b="1" dirty="0">
                <a:solidFill>
                  <a:srgbClr val="90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/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a blind, obstructed intersection, a building blocks the line of sight between an approaching vehicle and a pedestrian or cyclist. Cameras, radar, and LiDAR need direct line of sight. SENTRY senses hazards beyond it, without a second powered sensor per corner.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764A95-6A17-593A-BA8B-903DD7965864}"/>
              </a:ext>
            </a:extLst>
          </p:cNvPr>
          <p:cNvSpPr txBox="1"/>
          <p:nvPr/>
        </p:nvSpPr>
        <p:spPr>
          <a:xfrm>
            <a:off x="380162" y="4124561"/>
            <a:ext cx="3471165" cy="1084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solidFill>
                  <a:srgbClr val="90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roadside unit transmitting one OTFS waveform for sensing and communication.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marL="228600" indent="-228600">
              <a:buFont typeface="+mj-lt"/>
              <a:buAutoNum type="arabicPeriod"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hybrid RIS to redirect the signal around the blind corner.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the reflected signal and compute Time-to-Collision.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 a prioritized hazard alert via C-V2X (Uu + PC5).</a:t>
            </a: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30227-521C-8870-7B8E-8DB00A72929E}"/>
              </a:ext>
            </a:extLst>
          </p:cNvPr>
          <p:cNvSpPr txBox="1"/>
          <p:nvPr/>
        </p:nvSpPr>
        <p:spPr>
          <a:xfrm>
            <a:off x="404999" y="5101877"/>
            <a:ext cx="3885061" cy="807913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en-IN" sz="1050" b="1" dirty="0">
                <a:solidFill>
                  <a:srgbClr val="8B1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Model</a:t>
            </a:r>
          </a:p>
          <a:p>
            <a:pPr marL="171450" lvl="0" indent="-1714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Roadside Unit → Transmits OTFS-encoded signal.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marL="171450" lvl="0" indent="-1714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RIS → Redirects signal around obstruction.	</a:t>
            </a:r>
          </a:p>
          <a:p>
            <a:pPr marL="171450" lvl="0" indent="-1714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AI → Classifies hazard, computes Time-to-Collision.	</a:t>
            </a:r>
          </a:p>
          <a:p>
            <a:pPr marL="171450" lvl="0" indent="-1714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O-RAN Near-RT RIC → Delivers prioritized alert to vehicle.</a:t>
            </a:r>
            <a:endParaRPr lang="en-IN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6701FE-8864-782A-D020-3B6AFEB3A814}"/>
              </a:ext>
            </a:extLst>
          </p:cNvPr>
          <p:cNvSpPr txBox="1"/>
          <p:nvPr/>
        </p:nvSpPr>
        <p:spPr>
          <a:xfrm>
            <a:off x="3894734" y="4928730"/>
            <a:ext cx="3052166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50" b="1" dirty="0">
                <a:solidFill>
                  <a:srgbClr val="8B1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Software-defined radio (SDR) platform for OTFS waveform generation	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Sionna for OTFS waveform simulation and RIS ray tracing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128-element Active-Reflection RIS panel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AI on college MEC server with TensorRT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O-RAN Near-RT RIC-compatible network stack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Dual-path V2X delivery (cellular Uu + PC5 sidelink)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9576C7-B143-2C4F-EDAB-AB2645B555EB}"/>
              </a:ext>
            </a:extLst>
          </p:cNvPr>
          <p:cNvSpPr/>
          <p:nvPr/>
        </p:nvSpPr>
        <p:spPr>
          <a:xfrm>
            <a:off x="3213100" y="2410303"/>
            <a:ext cx="4267200" cy="279161"/>
          </a:xfrm>
          <a:prstGeom prst="rect">
            <a:avLst/>
          </a:prstGeom>
          <a:solidFill>
            <a:srgbClr val="8B1C1C"/>
          </a:solidFill>
          <a:ln>
            <a:solidFill>
              <a:srgbClr val="8B1C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EFD094-3726-AC6D-C938-03B07B9A5538}"/>
              </a:ext>
            </a:extLst>
          </p:cNvPr>
          <p:cNvSpPr txBox="1"/>
          <p:nvPr/>
        </p:nvSpPr>
        <p:spPr>
          <a:xfrm>
            <a:off x="3060700" y="2387482"/>
            <a:ext cx="487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0" dirty="0">
                <a:solidFill>
                  <a:schemeClr val="bg1"/>
                </a:solidFill>
              </a:rPr>
              <a:t>SENTRY: 6G ISAC for Non-Line-of-Sight Road Safety</a:t>
            </a:r>
            <a:endParaRPr lang="en-IN" sz="15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689AB5-5389-7CD8-7C8E-EF66E41CB621}"/>
              </a:ext>
            </a:extLst>
          </p:cNvPr>
          <p:cNvSpPr txBox="1"/>
          <p:nvPr/>
        </p:nvSpPr>
        <p:spPr>
          <a:xfrm>
            <a:off x="927100" y="2785052"/>
            <a:ext cx="9081338" cy="246221"/>
          </a:xfrm>
          <a:prstGeom prst="rect">
            <a:avLst/>
          </a:prstGeom>
          <a:noFill/>
          <a:ln w="19050">
            <a:solidFill>
              <a:srgbClr val="8B1C1C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CacheMe —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Aryan Iyengar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(Waveform);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(RIS);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 Goyal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(Edge AI); Faculty mentor: 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[Add name]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F112E6E-3F43-354A-C8C4-EC6789B848DF}"/>
              </a:ext>
            </a:extLst>
          </p:cNvPr>
          <p:cNvSpPr txBox="1"/>
          <p:nvPr/>
        </p:nvSpPr>
        <p:spPr>
          <a:xfrm>
            <a:off x="3884507" y="3035719"/>
            <a:ext cx="3556663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50" b="1" dirty="0">
                <a:solidFill>
                  <a:srgbClr val="8B1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OTFS vs OFDM performance under vehicular Doppler shift (Simulation A)</a:t>
            </a:r>
            <a:r>
              <a:rPr lang="en-US" alt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	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RIS coverage across the blind intersection using an SNR heatmap (Simulation B).	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Pre-code the roadside unit's transmission using known intersection geometry.</a:t>
            </a:r>
            <a:r>
              <a:rPr lang="en-US" alt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the reflected echo via micro-Doppler signature and compute Time-to-Collision.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Broadcast the alert via C-V2X (Uu + PC5), prioritized by O-RAN Near-RT RIC.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D732107-821E-066C-C3E9-23FFF829D222}"/>
              </a:ext>
            </a:extLst>
          </p:cNvPr>
          <p:cNvSpPr txBox="1"/>
          <p:nvPr/>
        </p:nvSpPr>
        <p:spPr>
          <a:xfrm>
            <a:off x="7505812" y="5097983"/>
            <a:ext cx="2952038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8B1C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</a:p>
          <a:p>
            <a:pPr algn="just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OTFS resists Doppler shift; OFDM's error rate exceeds 70%.</a:t>
            </a:r>
          </a:p>
          <a:p>
            <a:pPr algn="just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Simulated 8.7 ms sense-to-act latency across five stages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RIS coherent gain recovers most of the ~45 dB blockage penalty.</a:t>
            </a:r>
          </a:p>
          <a:p>
            <a:pPr algn="just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Open gaps: fractional-Doppler validation, hardware profiling.</a:t>
            </a:r>
          </a:p>
          <a:p>
            <a:pPr algn="just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Hybrid RIS active elements could double as a local angle-of-arrival sensor (future work).</a:t>
            </a: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A624859-A505-9D78-3845-82A97A723D63}"/>
              </a:ext>
            </a:extLst>
          </p:cNvPr>
          <p:cNvSpPr/>
          <p:nvPr/>
        </p:nvSpPr>
        <p:spPr>
          <a:xfrm>
            <a:off x="365659" y="3080147"/>
            <a:ext cx="3471165" cy="970057"/>
          </a:xfrm>
          <a:prstGeom prst="rect">
            <a:avLst/>
          </a:prstGeom>
          <a:noFill/>
          <a:ln w="19050">
            <a:solidFill>
              <a:srgbClr val="8B1C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55CF075-62DA-6330-A3BF-83DACD6BD92C}"/>
              </a:ext>
            </a:extLst>
          </p:cNvPr>
          <p:cNvSpPr/>
          <p:nvPr/>
        </p:nvSpPr>
        <p:spPr>
          <a:xfrm>
            <a:off x="365660" y="4110533"/>
            <a:ext cx="3471165" cy="991344"/>
          </a:xfrm>
          <a:prstGeom prst="rect">
            <a:avLst/>
          </a:prstGeom>
          <a:noFill/>
          <a:ln w="19050">
            <a:solidFill>
              <a:srgbClr val="8B1C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176B805-50A5-9AE8-7DD1-A2174A8459EE}"/>
              </a:ext>
            </a:extLst>
          </p:cNvPr>
          <p:cNvSpPr/>
          <p:nvPr/>
        </p:nvSpPr>
        <p:spPr>
          <a:xfrm>
            <a:off x="365659" y="5152163"/>
            <a:ext cx="3471165" cy="957384"/>
          </a:xfrm>
          <a:prstGeom prst="rect">
            <a:avLst/>
          </a:prstGeom>
          <a:noFill/>
          <a:ln w="19050">
            <a:solidFill>
              <a:srgbClr val="8B1C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C2DE8FA-EBD6-C78E-606E-5C49FAD96FC4}"/>
              </a:ext>
            </a:extLst>
          </p:cNvPr>
          <p:cNvSpPr/>
          <p:nvPr/>
        </p:nvSpPr>
        <p:spPr>
          <a:xfrm>
            <a:off x="3910937" y="4928845"/>
            <a:ext cx="3579810" cy="1176892"/>
          </a:xfrm>
          <a:prstGeom prst="rect">
            <a:avLst/>
          </a:prstGeom>
          <a:noFill/>
          <a:ln w="19050">
            <a:solidFill>
              <a:srgbClr val="8B1C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91E4713-E413-6DE7-6F57-86508982945C}"/>
              </a:ext>
            </a:extLst>
          </p:cNvPr>
          <p:cNvSpPr/>
          <p:nvPr/>
        </p:nvSpPr>
        <p:spPr>
          <a:xfrm>
            <a:off x="3905224" y="3070061"/>
            <a:ext cx="3585523" cy="1799768"/>
          </a:xfrm>
          <a:prstGeom prst="rect">
            <a:avLst/>
          </a:prstGeom>
          <a:noFill/>
          <a:ln w="19050">
            <a:solidFill>
              <a:srgbClr val="8B1C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2E6A4AE-DD26-2AFF-76C7-43EDD4FB90BA}"/>
              </a:ext>
            </a:extLst>
          </p:cNvPr>
          <p:cNvSpPr/>
          <p:nvPr/>
        </p:nvSpPr>
        <p:spPr>
          <a:xfrm>
            <a:off x="7546941" y="5127277"/>
            <a:ext cx="2910981" cy="964354"/>
          </a:xfrm>
          <a:prstGeom prst="rect">
            <a:avLst/>
          </a:prstGeom>
          <a:noFill/>
          <a:ln w="19050">
            <a:solidFill>
              <a:srgbClr val="8B1C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6722CB-10DA-7B26-00C9-0B5E878FC725}"/>
              </a:ext>
            </a:extLst>
          </p:cNvPr>
          <p:cNvSpPr txBox="1"/>
          <p:nvPr/>
        </p:nvSpPr>
        <p:spPr>
          <a:xfrm>
            <a:off x="8775700" y="2025650"/>
            <a:ext cx="184731" cy="369332"/>
          </a:xfrm>
          <a:prstGeom prst="rect">
            <a:avLst/>
          </a:prstGeom>
          <a:solidFill>
            <a:srgbClr val="EFE7DC"/>
          </a:solidFill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9A1A03-EB8D-67D8-2696-BDA730C5E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6586" y="3062056"/>
            <a:ext cx="1413845" cy="20290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3C9515-F787-0DBF-E116-F3EA303AC9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32" y="3080147"/>
            <a:ext cx="1456790" cy="20009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